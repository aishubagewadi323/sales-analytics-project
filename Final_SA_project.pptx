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61" r:id="rId6"/>
    <p:sldId id="271" r:id="rId7"/>
    <p:sldId id="259" r:id="rId8"/>
    <p:sldId id="260" r:id="rId9"/>
    <p:sldId id="275" r:id="rId10"/>
    <p:sldId id="264" r:id="rId11"/>
    <p:sldId id="262" r:id="rId12"/>
    <p:sldId id="272" r:id="rId13"/>
    <p:sldId id="263" r:id="rId14"/>
    <p:sldId id="273" r:id="rId15"/>
    <p:sldId id="276" r:id="rId16"/>
    <p:sldId id="277" r:id="rId17"/>
    <p:sldId id="278" r:id="rId18"/>
    <p:sldId id="279" r:id="rId19"/>
    <p:sldId id="280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3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hyperlink" Target="https://github.com/acciojob-data-analytics/sales_analysis/blob/main/Data/CSV/categories.csv" TargetMode="External"/><Relationship Id="rId8" Type="http://schemas.openxmlformats.org/officeDocument/2006/relationships/hyperlink" Target="https://github.com/acciojob-data-analytics/sales_analysis/blob/main/Data/CSV/shippers.csv" TargetMode="External"/><Relationship Id="rId7" Type="http://schemas.openxmlformats.org/officeDocument/2006/relationships/hyperlink" Target="https://github.com/acciojob-data-analytics/sales_analysis/blob/main/Data/CSV/suppliers.csv" TargetMode="External"/><Relationship Id="rId6" Type="http://schemas.openxmlformats.org/officeDocument/2006/relationships/hyperlink" Target="https://github.com/acciojob-data-analytics/sales_analysis/blob/main/Data/CSV/employees.csv" TargetMode="External"/><Relationship Id="rId5" Type="http://schemas.openxmlformats.org/officeDocument/2006/relationships/hyperlink" Target="https://github.com/acciojob-data-analytics/sales_analysis/blob/main/Data/CSV/products.csv" TargetMode="External"/><Relationship Id="rId4" Type="http://schemas.openxmlformats.org/officeDocument/2006/relationships/hyperlink" Target="https://github.com/acciojob-data-analytics/sales_analysis/blob/main/Data/CSV/order%20details.csv" TargetMode="External"/><Relationship Id="rId3" Type="http://schemas.openxmlformats.org/officeDocument/2006/relationships/hyperlink" Target="https://github.com/acciojob-data-analytics/sales_analysis/blob/main/Data/CSV/orders.csv" TargetMode="External"/><Relationship Id="rId2" Type="http://schemas.openxmlformats.org/officeDocument/2006/relationships/hyperlink" Target="https://github.com/acciojob-data-analytics/sales_analysis/blob/b821be6915b26c188925346a10dfb337c22bbee5/Data/CSV/customers.csv" TargetMode="External"/><Relationship Id="rId10" Type="http://schemas.openxmlformats.org/officeDocument/2006/relationships/slideLayout" Target="../slideLayouts/slideLayout2.xml"/><Relationship Id="rId1" Type="http://schemas.openxmlformats.org/officeDocument/2006/relationships/hyperlink" Target="https://github.com/acciojob-data-analytics/sales_analysis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7550"/>
            <a:ext cx="7993380" cy="1931035"/>
          </a:xfrm>
        </p:spPr>
        <p:txBody>
          <a:bodyPr>
            <a:normAutofit fontScale="90000"/>
          </a:bodyPr>
          <a:lstStyle/>
          <a:p>
            <a:r>
              <a:rPr sz="66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Northwind </a:t>
            </a:r>
            <a:r>
              <a:rPr lang="en-IN" sz="66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Dataset</a:t>
            </a:r>
            <a:br>
              <a:rPr lang="en-IN" sz="66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endParaRPr lang="en-IN" sz="66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731520" y="1864360"/>
            <a:ext cx="745744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GB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Northwind database contains the sales data for a fictitious company called "Northwind Traders," which imports and exports specialty foods from around the world.</a:t>
            </a:r>
            <a:endParaRPr lang="en-US" altLang="en-GB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GB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GB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It is an excellent tutorial schema for a small-business ERP, with customers, orders, inventory, purchasing, suppliers, shipping, employees, and single-entry accounting.</a:t>
            </a:r>
            <a:endParaRPr lang="en-US" altLang="en-GB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" y="274955"/>
            <a:ext cx="8605520" cy="1143000"/>
          </a:xfrm>
        </p:spPr>
        <p:txBody>
          <a:bodyPr/>
          <a:lstStyle/>
          <a:p>
            <a:r>
              <a:rPr lang="en-IN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MECE Breakdown</a:t>
            </a:r>
            <a:endParaRPr lang="en-IN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l="14917" t="12889" r="15806" b="6716"/>
          <a:stretch>
            <a:fillRect/>
          </a:stretch>
        </p:blipFill>
        <p:spPr>
          <a:xfrm>
            <a:off x="642620" y="1417955"/>
            <a:ext cx="7454265" cy="4866005"/>
          </a:xfrm>
          <a:prstGeom prst="rect">
            <a:avLst/>
          </a:prstGeom>
          <a:ln w="28575" cap="rnd" cmpd="sng">
            <a:noFill/>
            <a:prstDash val="solid"/>
            <a:round/>
          </a:ln>
          <a:effectLst>
            <a:glow rad="228600">
              <a:schemeClr val="accent4">
                <a:satMod val="175000"/>
                <a:alpha val="40000"/>
              </a:schemeClr>
            </a:glow>
            <a:innerShdw blurRad="63500" dist="50800" dir="13500000">
              <a:prstClr val="black">
                <a:alpha val="50000"/>
              </a:prstClr>
            </a:inn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chemeClr val="accent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Dataset Overview</a:t>
            </a:r>
            <a:endParaRPr b="1">
              <a:solidFill>
                <a:schemeClr val="accent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46225"/>
            <a:ext cx="9647555" cy="4526280"/>
          </a:xfrm>
        </p:spPr>
        <p:txBody>
          <a:bodyPr>
            <a:normAutofit fontScale="90000"/>
          </a:bodyPr>
          <a:lstStyle/>
          <a:p>
            <a:pPr marL="0" indent="0">
              <a:buNone/>
            </a:pPr>
            <a:r>
              <a:rPr b="1">
                <a:hlinkClick r:id="rId1" action="ppaction://hlinkfile"/>
              </a:rPr>
              <a:t>Northwind Traders sample database</a:t>
            </a:r>
            <a:r>
              <a:rPr lang="en-US" b="1">
                <a:hlinkClick r:id="rId1" action="ppaction://hlinkfile"/>
              </a:rPr>
              <a:t> </a:t>
            </a:r>
            <a:endParaRPr lang="en-US" b="1"/>
          </a:p>
          <a:p>
            <a:pPr lvl="1"/>
            <a:r>
              <a:t>Customers</a:t>
            </a:r>
            <a:r>
              <a:rPr lang="en-US"/>
              <a:t> -- </a:t>
            </a:r>
            <a:r>
              <a:rPr lang="en-US">
                <a:hlinkClick r:id="rId2" action="ppaction://hlinkfile"/>
              </a:rPr>
              <a:t>Customer Raw Data </a:t>
            </a:r>
            <a:endParaRPr lang="en-US" altLang="en-GB"/>
          </a:p>
          <a:p>
            <a:pPr lvl="1"/>
            <a:r>
              <a:t>Orders </a:t>
            </a:r>
            <a:r>
              <a:rPr lang="en-US"/>
              <a:t>-- </a:t>
            </a:r>
            <a:r>
              <a:rPr lang="en-US">
                <a:hlinkClick r:id="rId3" action="ppaction://hlinkfile"/>
              </a:rPr>
              <a:t>Order Raw Data</a:t>
            </a:r>
            <a:r>
              <a:rPr lang="en-US"/>
              <a:t> </a:t>
            </a:r>
            <a:endParaRPr lang="en-US"/>
          </a:p>
          <a:p>
            <a:pPr lvl="1"/>
            <a:r>
              <a:rPr lang="en-US"/>
              <a:t>Order Details -- </a:t>
            </a:r>
            <a:r>
              <a:rPr lang="en-US">
                <a:hlinkClick r:id="rId4" action="ppaction://hlinkfile"/>
              </a:rPr>
              <a:t>Order Details Data </a:t>
            </a:r>
            <a:endParaRPr lang="en-US"/>
          </a:p>
          <a:p>
            <a:pPr lvl="1"/>
            <a:r>
              <a:t>Products </a:t>
            </a:r>
            <a:r>
              <a:rPr lang="en-US"/>
              <a:t>-- </a:t>
            </a:r>
            <a:r>
              <a:rPr lang="en-US">
                <a:hlinkClick r:id="rId5" action="ppaction://hlinkfile"/>
              </a:rPr>
              <a:t>Products Raw Data</a:t>
            </a:r>
            <a:endParaRPr lang="en-US"/>
          </a:p>
          <a:p>
            <a:pPr lvl="1"/>
            <a:r>
              <a:rPr lang="en-US"/>
              <a:t>E</a:t>
            </a:r>
            <a:r>
              <a:rPr>
                <a:sym typeface="+mn-ea"/>
              </a:rPr>
              <a:t>mployees</a:t>
            </a:r>
            <a:r>
              <a:rPr lang="en-US">
                <a:sym typeface="+mn-ea"/>
              </a:rPr>
              <a:t> -- </a:t>
            </a:r>
            <a:r>
              <a:rPr lang="en-US">
                <a:sym typeface="+mn-ea"/>
                <a:hlinkClick r:id="rId6" action="ppaction://hlinkfile"/>
              </a:rPr>
              <a:t>Employees Raw Data</a:t>
            </a:r>
            <a:endParaRPr>
              <a:sym typeface="+mn-ea"/>
            </a:endParaRPr>
          </a:p>
          <a:p>
            <a:pPr lvl="1"/>
            <a:r>
              <a:t>Suppliers </a:t>
            </a:r>
            <a:r>
              <a:rPr lang="en-US"/>
              <a:t>-- </a:t>
            </a:r>
            <a:r>
              <a:rPr lang="en-US">
                <a:sym typeface="+mn-ea"/>
                <a:hlinkClick r:id="rId7" action="ppaction://hlinkfile"/>
              </a:rPr>
              <a:t>Suppliers</a:t>
            </a:r>
            <a:r>
              <a:rPr lang="en-US">
                <a:hlinkClick r:id="rId7" action="ppaction://hlinkfile"/>
              </a:rPr>
              <a:t> </a:t>
            </a:r>
            <a:r>
              <a:rPr lang="en-US">
                <a:sym typeface="+mn-ea"/>
                <a:hlinkClick r:id="rId7" action="ppaction://hlinkfile"/>
              </a:rPr>
              <a:t>Raw Data</a:t>
            </a:r>
            <a:endParaRPr lang="en-US">
              <a:sym typeface="+mn-ea"/>
            </a:endParaRPr>
          </a:p>
          <a:p>
            <a:pPr lvl="1"/>
            <a:r>
              <a:t>Shippers </a:t>
            </a:r>
            <a:r>
              <a:rPr lang="en-US"/>
              <a:t>--  </a:t>
            </a:r>
            <a:r>
              <a:rPr lang="en-US">
                <a:hlinkClick r:id="rId8" action="ppaction://hlinkfile"/>
              </a:rPr>
              <a:t>Shippers </a:t>
            </a:r>
            <a:r>
              <a:rPr lang="en-US">
                <a:sym typeface="+mn-ea"/>
                <a:hlinkClick r:id="rId8" action="ppaction://hlinkfile"/>
              </a:rPr>
              <a:t>Raw Data</a:t>
            </a:r>
            <a:endParaRPr lang="en-US">
              <a:sym typeface="+mn-ea"/>
            </a:endParaRPr>
          </a:p>
          <a:p>
            <a:pPr lvl="1"/>
            <a:r>
              <a:t>Categories</a:t>
            </a:r>
            <a:r>
              <a:rPr lang="en-US"/>
              <a:t> -- </a:t>
            </a:r>
            <a:r>
              <a:rPr lang="en-US">
                <a:hlinkClick r:id="rId9" action="ppaction://hlinkfile"/>
              </a:rPr>
              <a:t>Category Raw Data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Sales Analysis</a:t>
            </a:r>
            <a:endParaRPr lang="en-US" altLang="en-GB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9480"/>
            <a:ext cx="8229600" cy="5349240"/>
          </a:xfrm>
        </p:spPr>
        <p:txBody>
          <a:bodyPr/>
          <a:lstStyle/>
          <a:p>
            <a:pPr marL="0" indent="0" algn="just">
              <a:buNone/>
            </a:pPr>
            <a:endParaRPr lang="en-US" altLang="en-GB"/>
          </a:p>
          <a:p>
            <a:pPr algn="just"/>
            <a:r>
              <a:rPr lang="en-US" altLang="en-GB"/>
              <a:t>Examines sales trends, revenue contribution, and discount impact over time.</a:t>
            </a:r>
            <a:endParaRPr lang="en-US" altLang="en-GB"/>
          </a:p>
          <a:p>
            <a:pPr algn="just"/>
            <a:r>
              <a:rPr lang="en-US" altLang="en-GB"/>
              <a:t>Supports decisions by revealing top-performing products, seasonal patterns, and profitability drivers.</a:t>
            </a:r>
            <a:endParaRPr lang="en-US" alt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rcRect l="17702" t="11223" r="24418" b="25954"/>
          <a:stretch>
            <a:fillRect/>
          </a:stretch>
        </p:blipFill>
        <p:spPr>
          <a:xfrm>
            <a:off x="760730" y="627380"/>
            <a:ext cx="7941310" cy="4898390"/>
          </a:xfrm>
          <a:prstGeom prst="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  <a:innerShdw blurRad="63500" dist="50800" dir="13500000">
              <a:schemeClr val="tx2">
                <a:lumMod val="60000"/>
                <a:lumOff val="40000"/>
                <a:alpha val="50000"/>
              </a:schemeClr>
            </a:inn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Customer Analysis</a:t>
            </a:r>
            <a:endParaRPr lang="en-US" altLang="en-GB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altLang="en-GB"/>
              <a:t>Analyzes customer behavior, geography, and value segmentation to understand who buys, how often, and from where.</a:t>
            </a:r>
            <a:endParaRPr lang="en-US" altLang="en-GB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GB"/>
              <a:t>Helps identify high-value customers and repeat purchase patterns for targeted strategies.</a:t>
            </a:r>
            <a:endParaRPr lang="en-US" alt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l="2771" t="19035" r="36846" b="20974"/>
          <a:stretch>
            <a:fillRect/>
          </a:stretch>
        </p:blipFill>
        <p:spPr>
          <a:xfrm>
            <a:off x="656590" y="592455"/>
            <a:ext cx="8063865" cy="4746625"/>
          </a:xfrm>
          <a:prstGeom prst="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  <a:innerShdw dist="50800">
              <a:prstClr val="black">
                <a:alpha val="50000"/>
              </a:prstClr>
            </a:inn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en-GB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Employee Performance Analysis</a:t>
            </a:r>
            <a:endParaRPr lang="en-US" altLang="en-GB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en-US" altLang="en-GB"/>
              <a:t>Assesses workforce distribution, sales productivity, and tenure trends.</a:t>
            </a:r>
            <a:endParaRPr lang="en-US" altLang="en-GB"/>
          </a:p>
          <a:p>
            <a:pPr algn="just"/>
            <a:r>
              <a:rPr lang="en-US" altLang="en-GB"/>
              <a:t>Provides insights into employee efficiency and contribution to overall sales performance.</a:t>
            </a:r>
            <a:endParaRPr lang="en-US" alt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l="11465" t="12049" r="31576" b="30679"/>
          <a:stretch>
            <a:fillRect/>
          </a:stretch>
        </p:blipFill>
        <p:spPr>
          <a:xfrm>
            <a:off x="1037590" y="393065"/>
            <a:ext cx="7397750" cy="5251450"/>
          </a:xfrm>
          <a:prstGeom prst="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GB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Inventory Analysis</a:t>
            </a:r>
            <a:endParaRPr lang="en-US" altLang="en-GB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GB"/>
              <a:t>Tracks stock availability, reorder risks, and discontinued products.</a:t>
            </a:r>
            <a:endParaRPr lang="en-US" altLang="en-GB"/>
          </a:p>
          <a:p>
            <a:pPr algn="just"/>
            <a:r>
              <a:rPr lang="en-US" altLang="en-GB"/>
              <a:t>Ensures optimal inventory levels, reducing stockouts and excess holding costs.</a:t>
            </a:r>
            <a:endParaRPr lang="en-US" alt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rcRect l="4680" t="7043" r="16660" b="14380"/>
          <a:stretch>
            <a:fillRect/>
          </a:stretch>
        </p:blipFill>
        <p:spPr>
          <a:xfrm>
            <a:off x="538480" y="454025"/>
            <a:ext cx="8066405" cy="5080635"/>
          </a:xfrm>
          <a:prstGeom prst="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Shipping Analysis</a:t>
            </a:r>
            <a:endParaRPr lang="en-US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GB"/>
              <a:t>Evaluates carrier performance, freight costs, and delivery efficiency.</a:t>
            </a:r>
            <a:endParaRPr lang="en-US" altLang="en-GB"/>
          </a:p>
          <a:p>
            <a:r>
              <a:rPr lang="en-US" altLang="en-GB"/>
              <a:t>Supports cost control and timely delivery through logistics performance monitoring.</a:t>
            </a:r>
            <a:endParaRPr lang="en-US" altLang="en-GB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rcRect l="4277" t="7548" r="16621" b="14085"/>
          <a:stretch>
            <a:fillRect/>
          </a:stretch>
        </p:blipFill>
        <p:spPr>
          <a:xfrm>
            <a:off x="924560" y="793115"/>
            <a:ext cx="7294880" cy="4968875"/>
          </a:xfrm>
          <a:prstGeom prst="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pPr algn="ctr"/>
            <a:r>
              <a:rPr lang="en-US" altLang="en-GB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ANOMALIES IDENTIFIED IN NORTHWIND DATA</a:t>
            </a:r>
            <a:endParaRPr lang="en-US" altLang="en-GB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29865"/>
            <a:ext cx="4437380" cy="3168650"/>
          </a:xfrm>
        </p:spPr>
        <p:txBody>
          <a:bodyPr>
            <a:normAutofit fontScale="90000"/>
          </a:bodyPr>
          <a:p>
            <a:r>
              <a:rPr lang="en-US" altLang="en-GB"/>
              <a:t>United Package shows a sharp decline in order value over time</a:t>
            </a:r>
            <a:endParaRPr lang="en-US" altLang="en-GB"/>
          </a:p>
          <a:p>
            <a:r>
              <a:rPr lang="en-US" altLang="en-GB"/>
              <a:t>Other shippers (Federal Shipping, Speedy Express) show growth or stability</a:t>
            </a:r>
            <a:endParaRPr lang="en-US" altLang="en-GB"/>
          </a:p>
        </p:txBody>
      </p:sp>
      <p:sp>
        <p:nvSpPr>
          <p:cNvPr id="4" name="Text Box 3"/>
          <p:cNvSpPr txBox="1"/>
          <p:nvPr/>
        </p:nvSpPr>
        <p:spPr>
          <a:xfrm>
            <a:off x="610870" y="1576070"/>
            <a:ext cx="8075930" cy="11525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3200" b="1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sym typeface="+mn-ea"/>
              </a:rPr>
              <a:t>1 .Sudden Downfall in United Package Order Value</a:t>
            </a:r>
            <a:endParaRPr lang="en-US" altLang="en-GB" sz="3200" b="1">
              <a:ln w="15875"/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</a:endParaRPr>
          </a:p>
          <a:p>
            <a:endParaRPr lang="en-US" altLang="en-GB" sz="3200" b="1">
              <a:ln w="15875"/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5700" y="2670810"/>
            <a:ext cx="3809365" cy="32277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4480"/>
            <a:ext cx="8188960" cy="1133475"/>
          </a:xfrm>
        </p:spPr>
        <p:txBody>
          <a:bodyPr>
            <a:normAutofit fontScale="90000"/>
          </a:bodyPr>
          <a:p>
            <a:r>
              <a:rPr lang="en-US" altLang="en-GB" b="1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</a:rPr>
              <a:t>2.High-Revenue Products Selling Without Discounts</a:t>
            </a:r>
            <a:endParaRPr lang="en-US" altLang="en-GB" b="1">
              <a:ln w="15875"/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</a:endParaRPr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993005" y="2115185"/>
            <a:ext cx="3514725" cy="337566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827405" y="2115185"/>
            <a:ext cx="3743960" cy="42087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400" b="1"/>
              <a:t>Common assumption: “Discounts drive sales”.</a:t>
            </a:r>
            <a:endParaRPr lang="en-US" altLang="en-GB" sz="2400" b="1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sz="24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400" b="1"/>
              <a:t>Top Products generates high order value at discount 0.00%</a:t>
            </a:r>
            <a:endParaRPr lang="en-US" altLang="en-GB" sz="2400"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GB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</a:rPr>
              <a:t>3</a:t>
            </a:r>
            <a:r>
              <a:rPr lang="en-IN" altLang="en-US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</a:rPr>
              <a:t>.</a:t>
            </a:r>
            <a:r>
              <a:rPr lang="en-US" altLang="en-GB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</a:rPr>
              <a:t>Revenue Highly Concentrated in a Few Customers</a:t>
            </a:r>
            <a:endParaRPr lang="en-US" altLang="en-GB">
              <a:ln w="15875"/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19150" y="3800475"/>
            <a:ext cx="7386955" cy="168402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727710" y="1810385"/>
            <a:ext cx="7527290" cy="1459865"/>
          </a:xfrm>
          <a:prstGeom prst="rect">
            <a:avLst/>
          </a:prstGeom>
        </p:spPr>
        <p:txBody>
          <a:bodyPr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sz="2400"/>
              <a:t>Top 3 customers contribute ~7–8% of total revenue</a:t>
            </a:r>
            <a:endParaRPr sz="2400"/>
          </a:p>
          <a:p>
            <a:pPr marL="285750" indent="-285750">
              <a:buFont typeface="Arial" panose="020B0604020202020204" pitchFamily="34" charset="0"/>
              <a:buChar char="•"/>
            </a:pPr>
            <a:endParaRPr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400"/>
              <a:t>High-value segment contributes a disproportionate share</a:t>
            </a:r>
            <a:endParaRPr sz="2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IN" altLang="en-GB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</a:rPr>
              <a:t>4.</a:t>
            </a:r>
            <a:r>
              <a:rPr lang="en-US" altLang="en-GB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</a:rPr>
              <a:t>Discontinued Products Still </a:t>
            </a:r>
            <a:br>
              <a:rPr lang="en-US" altLang="en-GB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</a:rPr>
            </a:br>
            <a:r>
              <a:rPr lang="en-US" altLang="en-GB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</a:rPr>
              <a:t>Holding Stock</a:t>
            </a:r>
            <a:endParaRPr lang="en-US" altLang="en-GB">
              <a:ln w="15875"/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744085" y="2000250"/>
            <a:ext cx="3667125" cy="276669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125855" y="2105660"/>
            <a:ext cx="3282950" cy="3583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400" b="1"/>
              <a:t>Discontinued products still have units in stock</a:t>
            </a:r>
            <a:r>
              <a:rPr lang="en-IN" altLang="en-US" sz="2400" b="1"/>
              <a:t>.</a:t>
            </a:r>
            <a:endParaRPr lang="en-IN" altLang="en-US" sz="2400" b="1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altLang="en-US" sz="24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400" b="1"/>
              <a:t>Capital locked in dead inventory </a:t>
            </a:r>
            <a:r>
              <a:rPr lang="en-US" altLang="en-US" sz="2400" b="1"/>
              <a:t>→</a:t>
            </a:r>
            <a:r>
              <a:rPr lang="en-US" altLang="en-GB" sz="2400" b="1"/>
              <a:t> margin &amp; storage cost issue.</a:t>
            </a:r>
            <a:endParaRPr lang="en-US" altLang="en-GB" sz="2400" b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70255"/>
            <a:ext cx="8229600" cy="5529580"/>
          </a:xfrm>
        </p:spPr>
        <p:txBody>
          <a:bodyPr/>
          <a:p>
            <a:pPr marL="0" indent="0" algn="ctr">
              <a:buNone/>
            </a:pPr>
            <a:r>
              <a:rPr lang="en-IN" altLang="en-GB" sz="13800" b="1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</a:rPr>
              <a:t>THANK YOU</a:t>
            </a:r>
            <a:endParaRPr lang="en-IN" altLang="en-GB" sz="13800" b="1">
              <a:ln w="15875"/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2277</Words>
  <Application>WPS Presentation</Application>
  <PresentationFormat>On-screen Show (4:3)</PresentationFormat>
  <Paragraphs>73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Northwind Dataset </vt:lpstr>
      <vt:lpstr>MECE Breakdown</vt:lpstr>
      <vt:lpstr>Dataset Overview</vt:lpstr>
      <vt:lpstr>Sales Analysis</vt:lpstr>
      <vt:lpstr>PowerPoint 演示文稿</vt:lpstr>
      <vt:lpstr>Customer Analysis</vt:lpstr>
      <vt:lpstr>PowerPoint 演示文稿</vt:lpstr>
      <vt:lpstr>Employee Performance Analysis</vt:lpstr>
      <vt:lpstr>PowerPoint 演示文稿</vt:lpstr>
      <vt:lpstr>Inventory Analysis</vt:lpstr>
      <vt:lpstr>PowerPoint 演示文稿</vt:lpstr>
      <vt:lpstr>Shipping Analysis</vt:lpstr>
      <vt:lpstr>PowerPoint 演示文稿</vt:lpstr>
      <vt:lpstr>ANOMALIES IDENTIFIED IN NORTHWIND DATA</vt:lpstr>
      <vt:lpstr>2.High-Revenue Products Selling Without Discounts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27.Aishwarya.M.B</cp:lastModifiedBy>
  <cp:revision>7</cp:revision>
  <dcterms:created xsi:type="dcterms:W3CDTF">2013-01-27T09:14:00Z</dcterms:created>
  <dcterms:modified xsi:type="dcterms:W3CDTF">2026-01-16T21:41:21Z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497AF7A2769947EF9CF3A7D2807B6D27_13</vt:lpwstr>
  </property>
  <property fmtid="{D5CDD505-2E9C-101B-9397-08002B2CF9AE}" pid="3" name="KSOProductBuildVer">
    <vt:lpwstr>2057-12.2.0.23197</vt:lpwstr>
  </property>
</Properties>
</file>